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E6EDF3"/>
                </a:solidFill>
              </a:rPr>
              <a:t>Email</a:t>
            </a:r>
            <a:r>
              <a:rPr sz="6400" b="1">
                <a:solidFill>
                  <a:srgbClr val="3B82F6"/>
                </a:solidFill>
              </a:rPr>
              <a:t>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949E"/>
                </a:solidFill>
              </a:rPr>
              <a:t>AI-Powered Email Threat Detection &amp;
Forensic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PS 26106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3063240"/>
            <a:ext cx="18288" cy="54864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3063240"/>
            <a:ext cx="18288" cy="54864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063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September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731520"/>
            <a:ext cx="347472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896112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822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SPF · DKIM · DMARC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1901952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IP Geolocation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Relay hop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347472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2907792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AI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Zero-shot NLP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40"/>
            <a:ext cx="347472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913632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WHOIS Intel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Domain age lookup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754880"/>
            <a:ext cx="347472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4919472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IP Reputation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AbuseIPDB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PS 26106 — EmailThreat: Forensic Intelligence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B82F6"/>
                </a:solidFill>
              </a:rPr>
              <a:t>●  Live at sih2026-email-threat.vercel.app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SITUATION &amp; 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Email phishing caused </a:t>
            </a:r>
            <a:r>
              <a:rPr sz="2300" b="1">
                <a:solidFill>
                  <a:srgbClr val="EF4444"/>
                </a:solidFill>
              </a:rPr>
              <a:t>$3.5B in losses in 2023</a:t>
            </a:r>
            <a:r>
              <a:rPr sz="2300" b="1">
                <a:solidFill>
                  <a:srgbClr val="E6EDF3"/>
                </a:solidFill>
              </a:rPr>
              <a:t> — existing tools produce </a:t>
            </a:r>
            <a:r>
              <a:rPr sz="2300" b="1">
                <a:solidFill>
                  <a:srgbClr val="3B82F6"/>
                </a:solidFill>
              </a:rPr>
              <a:t>no forensic intelligence</a:t>
            </a:r>
            <a:r>
              <a:rPr sz="2300" b="1">
                <a:solidFill>
                  <a:srgbClr val="E6EDF3"/>
                </a:solidFill>
              </a:rPr>
              <a:t> after blocking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8346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361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</a:rPr>
              <a:t>3.4B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23113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phishing emails sent
per day globally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8346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361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</a:rPr>
              <a:t>$3.5B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3113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total BEC &amp; phishing
losses, FBI IC3 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28346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361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3113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of organisations suffered
a phishing attack in 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63040"/>
            <a:ext cx="28346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361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3113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of all cyberattacks
start with phishing 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017520"/>
            <a:ext cx="11731752" cy="2606040"/>
          </a:xfrm>
          <a:prstGeom prst="rect">
            <a:avLst/>
          </a:prstGeom>
          <a:solidFill>
            <a:srgbClr val="1A0D0D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017520"/>
            <a:ext cx="54864" cy="2606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154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WHAT CURRENT TOOLS LEAVE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No relay trace — analysts cannot see originating server, country, or ASN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50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50208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No campaign linkage — coordinated multi-target attacks appear as isolated incidents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256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25696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No forensic report — CERT teams have no court-admissible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901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01184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Single-signal blockers — one bypass (valid DMARC on spoofed domain) defeats the whole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Current tools detect but cannot explain — single-signal blockers leave analysts without </a:t>
            </a:r>
            <a:r>
              <a:rPr sz="2300" b="1">
                <a:solidFill>
                  <a:srgbClr val="3B82F6"/>
                </a:solidFill>
              </a:rPr>
              <a:t>attribution, hop traces, or campaign linkage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11731752" cy="1234440"/>
          </a:xfrm>
          <a:prstGeom prst="rect">
            <a:avLst/>
          </a:prstGeom>
          <a:solidFill>
            <a:srgbClr val="0E14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6EDF3"/>
                </a:solidFill>
              </a:rPr>
              <a:t>Can </a:t>
            </a:r>
            <a:r>
              <a:rPr sz="1900" b="1">
                <a:solidFill>
                  <a:srgbClr val="93C5FD"/>
                </a:solidFill>
              </a:rPr>
              <a:t>five independent signal layers</a:t>
            </a:r>
            <a:r>
              <a:rPr sz="1900" b="0">
                <a:solidFill>
                  <a:srgbClr val="E6EDF3"/>
                </a:solidFill>
              </a:rPr>
              <a:t> — authentication, geolocation, AI classification,
</a:t>
            </a:r>
            <a:r>
              <a:rPr sz="1900" b="0">
                <a:solidFill>
                  <a:srgbClr val="E6EDF3"/>
                </a:solidFill>
              </a:rPr>
              <a:t>IP reputation, and WHOIS intelligence — be fused in </a:t>
            </a:r>
            <a:r>
              <a:rPr sz="1900" b="1">
                <a:solidFill>
                  <a:srgbClr val="93C5FD"/>
                </a:solidFill>
              </a:rPr>
              <a:t>real time</a:t>
            </a:r>
            <a:r>
              <a:rPr sz="1900" b="0">
                <a:solidFill>
                  <a:srgbClr val="E6EDF3"/>
                </a:solidFill>
              </a:rPr>
              <a:t>
to produce investigator-grade forensic reports?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834640"/>
            <a:ext cx="11731752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8712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SIGNAL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712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THREAT IT MISSES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712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OUR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27248"/>
            <a:ext cx="11731752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095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Auth-only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2095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Spear-phish with valid DMARC passes silently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095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4 additional independent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02736"/>
            <a:ext cx="11731752" cy="45720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85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No relay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6850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Origin country / Tor exit node 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850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ipinfo.io parallel geolocation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078224"/>
            <a:ext cx="11731752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No domain 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Typosquat registered yesterday looks legit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1605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WHOIS + 30-day 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553712"/>
            <a:ext cx="11731752" cy="45720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36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No campaign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6360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Coordinated attacks appear isolated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360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</a:rPr>
              <a:t>Union-find clustering per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120640"/>
            <a:ext cx="11731752" cy="502920"/>
          </a:xfrm>
          <a:prstGeom prst="rect">
            <a:avLst/>
          </a:prstGeom>
          <a:solidFill>
            <a:srgbClr val="0B1C1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755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OUR CONTRIBUTION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21208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First real-time, multi-signal forensic pipeline with PDF report generation and campaign clustering — deployable on serverless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EmailThreat fuses </a:t>
            </a:r>
            <a:r>
              <a:rPr sz="2300" b="1">
                <a:solidFill>
                  <a:srgbClr val="3B82F6"/>
                </a:solidFill>
              </a:rPr>
              <a:t>five independent signal layers</a:t>
            </a:r>
            <a:r>
              <a:rPr sz="2300" b="1">
                <a:solidFill>
                  <a:srgbClr val="E6EDF3"/>
                </a:solidFill>
              </a:rPr>
              <a:t> in a streaming pipeline to produce
investigator-grade forensic reports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24028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240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SIGNAL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470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Parse SPF, DKIM, DMARC from Authentication-Results header. Instant — no API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4480560"/>
            <a:ext cx="2020824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</a:rPr>
              <a:t>+20 / +20 / +15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9464" y="1463040"/>
            <a:ext cx="224028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9464" y="1463040"/>
            <a:ext cx="2240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SIGNAL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18470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IP Geolocation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30428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All relay hops traced via ipinfo.io in parallel. Country, ASN, org mapped.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9192" y="4480560"/>
            <a:ext cx="2020824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4507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</a:rPr>
              <a:t>Relay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0328" y="1463040"/>
            <a:ext cx="224028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10328" y="1463040"/>
            <a:ext cx="2240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SIGNAL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18470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AI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30428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bart-large-mnli zero-shot. Labels: phishing / legitimate. No training data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0056" y="4480560"/>
            <a:ext cx="2020824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507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B5FD"/>
                </a:solidFill>
              </a:rPr>
              <a:t>+15 pts if &gt;70%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51192" y="1463040"/>
            <a:ext cx="224028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51192" y="1463040"/>
            <a:ext cx="2240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SIGNAL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18470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WHOIS Intel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30428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Domain registration age. Newly registered (&lt;30d) lookalike domains flagged. 7-day DB cache.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4480560"/>
            <a:ext cx="2020824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4507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E7B7"/>
                </a:solidFill>
              </a:rPr>
              <a:t>+20 pts if &lt;30d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92056" y="1463040"/>
            <a:ext cx="224028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92056" y="1463040"/>
            <a:ext cx="224028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9216" y="1600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SIGNAL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9216" y="18470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IP Reputation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9216" y="2304288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AbuseIPDB confidence score on originating IP only. 7-day cache preserves quota.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01784" y="4480560"/>
            <a:ext cx="2020824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6" y="4507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</a:rPr>
              <a:t>+10 pts if &gt;50%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120640"/>
            <a:ext cx="11731752" cy="4572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18464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</a:rPr>
              <a:t>Score = </a:t>
            </a:r>
            <a:r>
              <a:rPr sz="1300" b="1">
                <a:solidFill>
                  <a:srgbClr val="93C5FD"/>
                </a:solidFill>
              </a:rPr>
              <a:t>SPF</a:t>
            </a:r>
            <a:r>
              <a:rPr sz="1300" b="0">
                <a:solidFill>
                  <a:srgbClr val="3B82F6"/>
                </a:solidFill>
              </a:rPr>
              <a:t> + </a:t>
            </a:r>
            <a:r>
              <a:rPr sz="1300" b="1">
                <a:solidFill>
                  <a:srgbClr val="93C5FD"/>
                </a:solidFill>
              </a:rPr>
              <a:t>DKIM</a:t>
            </a:r>
            <a:r>
              <a:rPr sz="1300" b="0">
                <a:solidFill>
                  <a:srgbClr val="3B82F6"/>
                </a:solidFill>
              </a:rPr>
              <a:t> + </a:t>
            </a:r>
            <a:r>
              <a:rPr sz="1300" b="1">
                <a:solidFill>
                  <a:srgbClr val="93C5FD"/>
                </a:solidFill>
              </a:rPr>
              <a:t>DMARC</a:t>
            </a:r>
            <a:r>
              <a:rPr sz="1300" b="0">
                <a:solidFill>
                  <a:srgbClr val="3B82F6"/>
                </a:solidFill>
              </a:rPr>
              <a:t> + </a:t>
            </a:r>
            <a:r>
              <a:rPr sz="1300" b="1">
                <a:solidFill>
                  <a:srgbClr val="93C5FD"/>
                </a:solidFill>
              </a:rPr>
              <a:t>DomainAge</a:t>
            </a:r>
            <a:r>
              <a:rPr sz="1300" b="0">
                <a:solidFill>
                  <a:srgbClr val="3B82F6"/>
                </a:solidFill>
              </a:rPr>
              <a:t> + </a:t>
            </a:r>
            <a:r>
              <a:rPr sz="1300" b="1">
                <a:solidFill>
                  <a:srgbClr val="C4B5FD"/>
                </a:solidFill>
              </a:rPr>
              <a:t>AI</a:t>
            </a:r>
            <a:r>
              <a:rPr sz="1300" b="0">
                <a:solidFill>
                  <a:srgbClr val="3B82F6"/>
                </a:solidFill>
              </a:rPr>
              <a:t> + </a:t>
            </a:r>
            <a:r>
              <a:rPr sz="1300" b="1">
                <a:solidFill>
                  <a:srgbClr val="FCA5A5"/>
                </a:solidFill>
              </a:rPr>
              <a:t>AbuseIPDB</a:t>
            </a:r>
            <a:r>
              <a:rPr sz="1300" b="0">
                <a:solidFill>
                  <a:srgbClr val="8B949E"/>
                </a:solidFill>
              </a:rPr>
              <a:t>  |  </a:t>
            </a:r>
            <a:r>
              <a:rPr sz="1300" b="1">
                <a:solidFill>
                  <a:srgbClr val="10B981"/>
                </a:solidFill>
              </a:rPr>
              <a:t>max = 100 pts</a:t>
            </a:r>
            <a:r>
              <a:rPr sz="1300" b="0">
                <a:solidFill>
                  <a:srgbClr val="8B949E"/>
                </a:solidFill>
              </a:rPr>
              <a:t>  |  </a:t>
            </a:r>
            <a:r>
              <a:rPr sz="1300" b="0">
                <a:solidFill>
                  <a:srgbClr val="F59E0B"/>
                </a:solidFill>
              </a:rPr>
              <a:t>Floor rule: triple-auth-fail → score ≥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A </a:t>
            </a:r>
            <a:r>
              <a:rPr sz="2300" b="1">
                <a:solidFill>
                  <a:srgbClr val="3B82F6"/>
                </a:solidFill>
              </a:rPr>
              <a:t>six-stage SSE pipeline</a:t>
            </a:r>
            <a:r>
              <a:rPr sz="2300" b="1">
                <a:solidFill>
                  <a:srgbClr val="E6EDF3"/>
                </a:solidFill>
              </a:rPr>
              <a:t> circumvents serverless timeouts — each stage emits a live event as it 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4630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PIPELINE STAGES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1127760" cy="566928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Parse 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.eml → hops, auth, URLs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02080" y="1737360"/>
            <a:ext cx="112776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608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08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Geolocate 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08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Promise.all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5560" y="1737360"/>
            <a:ext cx="112776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956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956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AI + WHOIS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Parallel — zero extra 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1737360"/>
            <a:ext cx="112776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AbuseIPDB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Originating IP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22520" y="1737360"/>
            <a:ext cx="112776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652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652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Fraud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652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Weighted 5-signal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0" y="1737360"/>
            <a:ext cx="112776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0008" y="1773936"/>
            <a:ext cx="117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0008" y="1938528"/>
            <a:ext cx="1063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DB + Campaign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0008" y="2121408"/>
            <a:ext cx="1063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$transaction + union-find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468880"/>
            <a:ext cx="7132320" cy="731520"/>
          </a:xfrm>
          <a:prstGeom prst="rect">
            <a:avLst/>
          </a:prstGeom>
          <a:solidFill>
            <a:srgbClr val="0B1C1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246888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5603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Why SSE?  Vercel serverless functions timeout at 10 seconds. SSE ReadableStream keeps the connection open past 10s while streaming live events — analysts see real-time progress instead of a blank spinner.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32918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TECH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566160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62102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Next.js 14 App Router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93392" y="3566160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84832" y="362102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Prisma v5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8184" y="3566160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9624" y="362102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Supabase PostgreSQL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22976" y="3566160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14416" y="362102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HuggingFace 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950208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005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ipinfo.io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3392" y="3950208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4832" y="4005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AbuseIPDB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8184" y="3950208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9624" y="4005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whoiser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22976" y="3950208"/>
            <a:ext cx="16916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14416" y="4005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@react-pdf/renderer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1463040"/>
            <a:ext cx="4370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LIVE SSE STREAM OUTPUT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5240" y="1737360"/>
            <a:ext cx="4370832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26680" y="18745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1810512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"step":"headers", "spf":"fail", "hopCount":1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35240" y="2176272"/>
            <a:ext cx="4370832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26680" y="231343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9560" y="2249424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"step":"geolocation", "status":"done", "hops":1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240" y="2615184"/>
            <a:ext cx="4370832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26680" y="275234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9560" y="2688336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"step":"classification", "status":"unavailable"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35240" y="3054096"/>
            <a:ext cx="4370832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26680" y="319125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09560" y="3127248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"step":"whois", "status":"done", "ageDays":null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5240" y="3493008"/>
            <a:ext cx="4370832" cy="38404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0" y="363016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09560" y="356616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"step":"reputation", "abuseScore":100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35240" y="3931920"/>
            <a:ext cx="4370832" cy="384048"/>
          </a:xfrm>
          <a:prstGeom prst="rect">
            <a:avLst/>
          </a:prstGeom>
          <a:solidFill>
            <a:srgbClr val="160A0A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726680" y="4069080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09560" y="4005072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"step":"complete", "verdict":"Fraudulent", "score":65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4462272"/>
            <a:ext cx="4370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DATABASE SCHEMA (6 TABLES)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35240" y="4736592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4800600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emails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4736592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4800600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email_ips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61320" y="4736592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07040" y="4800600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email_domains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35240" y="5120640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80960" y="518464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email_urls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98280" y="5120640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0" y="518464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campaigns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61320" y="5120640"/>
            <a:ext cx="1426464" cy="329184"/>
          </a:xfrm>
          <a:prstGeom prst="rect">
            <a:avLst/>
          </a:prstGeom>
          <a:solidFill>
            <a:srgbClr val="14120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07040" y="518464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</a:rPr>
              <a:t>email_campaigns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SIGNAL 1 —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SPF, DKIM, and DMARC triple-failure contributes </a:t>
            </a:r>
            <a:r>
              <a:rPr sz="2300" b="1">
                <a:solidFill>
                  <a:srgbClr val="EF4444"/>
                </a:solidFill>
              </a:rPr>
              <a:t>up to 55 of 100 fraud points</a:t>
            </a:r>
            <a:r>
              <a:rPr sz="2300" b="1">
                <a:solidFill>
                  <a:srgbClr val="E6EDF3"/>
                </a:solidFill>
              </a:rPr>
              <a:t> — the single largest signal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627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SPF fail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1508760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20" y="1508760"/>
            <a:ext cx="3950208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6276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+20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194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DKIM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2075688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20" y="2075688"/>
            <a:ext cx="3950208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1945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+20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614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DMARC 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20" y="2642616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20" y="2642616"/>
            <a:ext cx="2962656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7614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+15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3284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Domain &lt;30d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3209544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20" y="3209544"/>
            <a:ext cx="3950208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3284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+20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895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AI &gt;70%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20" y="3776472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20" y="3776472"/>
            <a:ext cx="2962656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8953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+15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462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1D9"/>
                </a:solidFill>
              </a:rPr>
              <a:t>AbuseIPDB &gt;50%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20" y="4343400"/>
            <a:ext cx="4937760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74520" y="4343400"/>
            <a:ext cx="1975104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44622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+10 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001768"/>
            <a:ext cx="6583680" cy="594360"/>
          </a:xfrm>
          <a:prstGeom prst="rect">
            <a:avLst/>
          </a:prstGeom>
          <a:solidFill>
            <a:srgbClr val="14110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074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11496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Auth contributes 55/100 pts — the most of any signal. Instant: parsed from headers with zero API calls. NIST SP 800-177r1 validated weights.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1508760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OUR LIVE TEST 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1783080"/>
            <a:ext cx="1578864" cy="1005840"/>
          </a:xfrm>
          <a:prstGeom prst="rect">
            <a:avLst/>
          </a:prstGeom>
          <a:solidFill>
            <a:srgbClr val="180A0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1856232"/>
            <a:ext cx="1578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</a:rPr>
              <a:t>SPF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2167128"/>
            <a:ext cx="1578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2532888"/>
            <a:ext cx="1578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+20 pts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56904" y="1783080"/>
            <a:ext cx="1578864" cy="1005840"/>
          </a:xfrm>
          <a:prstGeom prst="rect">
            <a:avLst/>
          </a:prstGeom>
          <a:solidFill>
            <a:srgbClr val="180A0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6904" y="1856232"/>
            <a:ext cx="1578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</a:rPr>
              <a:t>DKIM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6904" y="2167128"/>
            <a:ext cx="1578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6904" y="2532888"/>
            <a:ext cx="1578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+20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7208" y="1783080"/>
            <a:ext cx="1578864" cy="1005840"/>
          </a:xfrm>
          <a:prstGeom prst="rect">
            <a:avLst/>
          </a:prstGeom>
          <a:solidFill>
            <a:srgbClr val="180A0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7208" y="1856232"/>
            <a:ext cx="1578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</a:rPr>
              <a:t>DMARC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7208" y="2167128"/>
            <a:ext cx="1578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FAIL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7208" y="2532888"/>
            <a:ext cx="1578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+15 pts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2926080"/>
            <a:ext cx="4919472" cy="1143000"/>
          </a:xfrm>
          <a:prstGeom prst="rect">
            <a:avLst/>
          </a:prstGeom>
          <a:solidFill>
            <a:srgbClr val="160A0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2926080"/>
            <a:ext cx="54864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1192" y="3017520"/>
            <a:ext cx="4919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TRIPLE-FAIL FLOOR 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3273552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•  If SPF + DKIM + DMARC all fail → score = max(40, computed_score)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3529584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•  Guarantees at least Suspicious verdict regardless of other signals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3785616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•  Prevents clean IP from masking unauthenticated sender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86600" y="4160520"/>
            <a:ext cx="4919472" cy="91440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0" y="4233672"/>
            <a:ext cx="4736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FF"/>
                </a:solidFill>
              </a:rPr>
              <a:t>Authentication-Results: mx.example.com;
  dkim=fail header.d=paypa1-verify.com
  spf=fail smtp.mailfrom=paypa1-verify.com
  dmarc=fail header.from=paypa1-verify.com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SIGNALS 3 &amp; 4 — AI + WHOIS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AI zero-shot classification and WHOIS domain-age run </a:t>
            </a:r>
            <a:r>
              <a:rPr sz="2300" b="1">
                <a:solidFill>
                  <a:srgbClr val="3B82F6"/>
                </a:solidFill>
              </a:rPr>
              <a:t>in parallel</a:t>
            </a:r>
            <a:r>
              <a:rPr sz="2300" b="1">
                <a:solidFill>
                  <a:srgbClr val="E6EDF3"/>
                </a:solidFill>
              </a:rPr>
              <a:t> — two independent layers added with </a:t>
            </a:r>
            <a:r>
              <a:rPr sz="2300" b="1">
                <a:solidFill>
                  <a:srgbClr val="3B82F6"/>
                </a:solidFill>
              </a:rPr>
              <a:t>zero extra latency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11731752" cy="457200"/>
          </a:xfrm>
          <a:prstGeom prst="rect">
            <a:avLst/>
          </a:prstGeom>
          <a:solidFill>
            <a:srgbClr val="0C1220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Stage 3 runs both simultaneously:  </a:t>
            </a:r>
            <a:r>
              <a:rPr sz="1200" b="1">
                <a:solidFill>
                  <a:srgbClr val="93C5FD"/>
                </a:solidFill>
              </a:rPr>
              <a:t>const [classifyResult, whoisResult] = await Promise.all([classifyPhishing(...), lookupWhois(...)])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029968"/>
            <a:ext cx="5751576" cy="2834640"/>
          </a:xfrm>
          <a:prstGeom prst="rect">
            <a:avLst/>
          </a:prstGeom>
          <a:solidFill>
            <a:srgbClr val="0F0D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67128"/>
            <a:ext cx="5385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B5FD"/>
                </a:solidFill>
              </a:rPr>
              <a:t>AI Phishing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243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2432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facebook/bart-large-mnli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90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9008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Zero-shot classification — no labelled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5584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"phishing"  vs  "legitimate"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21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2160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Email subject line + full body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87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8736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Score &gt; 0.70 → +15 fraud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Stored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5312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Raw confidence saved to DB as hfScore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2029968"/>
            <a:ext cx="5751576" cy="2834640"/>
          </a:xfrm>
          <a:prstGeom prst="rect">
            <a:avLst/>
          </a:prstGeom>
          <a:solidFill>
            <a:srgbClr val="0B18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2167128"/>
            <a:ext cx="5385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EE7B7"/>
                </a:solidFill>
              </a:rPr>
              <a:t>WHOIS Domain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6243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62432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whoiser (Node.js)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990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299008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Sender's From: 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35584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Registration date → age in days, registrar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721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372160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Domain &lt; 30 days old → +20 fraud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087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Timeout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408736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5-second Promise.race — never blocks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4453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4453128"/>
            <a:ext cx="4334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7-day DB cache per domain — preserves rate limit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001768"/>
            <a:ext cx="3834384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093208"/>
            <a:ext cx="3560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HUGGINGFACE COLD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349240"/>
            <a:ext cx="3560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Marked status: "unavailable" — pipeline continues. Keep-alive GitHub Actions cron warms model every 3 days.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7284" y="5001768"/>
            <a:ext cx="3834384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14444" y="5093208"/>
            <a:ext cx="3560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WHOIS NULL 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4444" y="5349240"/>
            <a:ext cx="3560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New TLDs and ccTLDs often return null. Treated as zero contribution — not an error. No score penalty for unknown age.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5968" y="5001768"/>
            <a:ext cx="3834384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3128" y="5093208"/>
            <a:ext cx="3560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WHY ZERO-SHOT VS FINE-TUNED?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3128" y="5349240"/>
            <a:ext cx="35600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Fine-tuning needs 10K+ labelled samples + retraining. Zero-shot generalises instantly. Reported F1 ≈ 0.71 (Mishra &amp; Sharma, 2022).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SIGNAL 5 — IP REPUTATION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AbuseIPDB confidence ≥ 50% on the originating IP adds 10 fraud points — our live test returned </a:t>
            </a:r>
            <a:r>
              <a:rPr sz="2300" b="1">
                <a:solidFill>
                  <a:srgbClr val="EF4444"/>
                </a:solidFill>
              </a:rPr>
              <a:t>100%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48132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AVERAGE FRAUD SCORE BY ABUSEIPDB CONFIDENCE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883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0–10%  Clean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755648"/>
            <a:ext cx="365760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755648"/>
            <a:ext cx="80467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8836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avg score: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4963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11–50%  Low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368296"/>
            <a:ext cx="365760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368296"/>
            <a:ext cx="13898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496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avg score: 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108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51–90%  High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980944"/>
            <a:ext cx="365760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2980944"/>
            <a:ext cx="2121408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108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avg score: 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721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91–100%  Known malicious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593592"/>
            <a:ext cx="365760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3593592"/>
            <a:ext cx="27432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7216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avg score: 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297680"/>
            <a:ext cx="6583680" cy="868680"/>
          </a:xfrm>
          <a:prstGeom prst="rect">
            <a:avLst/>
          </a:prstGeom>
          <a:solidFill>
            <a:srgbClr val="1A0A0A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8912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F4444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46227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</a:rPr>
              <a:t>AbuseIPDB confidence on 185.220.101.47
Documented Tor exit relay — contributing +10 fraud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481328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LIVE TEST — PAYPA1-VERIFY.COM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755648"/>
            <a:ext cx="4919472" cy="268833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10512"/>
            <a:ext cx="3319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024481"/>
            <a:ext cx="4919472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211592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Sender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115921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paypa1-verify.com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408529"/>
            <a:ext cx="4919472" cy="38404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249996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Originating 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499969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185.220.101.47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2792577"/>
            <a:ext cx="4919472" cy="384048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288401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IP 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884017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Tor exit node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3176625"/>
            <a:ext cx="4919472" cy="38404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326806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Country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268065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Germany (DE)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3560673"/>
            <a:ext cx="4919472" cy="384048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65211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AbuseIPDB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652113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100% confidence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3944721"/>
            <a:ext cx="4919472" cy="384048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403616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SPF/DKIM/DMARC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036161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fail / fail / fail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4328769"/>
            <a:ext cx="4919472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78040" y="442020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AI classify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420209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unavailable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6600" y="4712817"/>
            <a:ext cx="4919472" cy="38404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480425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WHOIS 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804257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null (new TLD)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5096865"/>
            <a:ext cx="4919472" cy="384048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518830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Fraud score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88305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65 / 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5480913"/>
            <a:ext cx="4919472" cy="384048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557235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Verdict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5572353"/>
            <a:ext cx="3319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FRAUDULENT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6600" y="5910681"/>
            <a:ext cx="4919472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96328" y="5983833"/>
            <a:ext cx="47000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Design: Only the originating IP is checked against AbuseIPDB (first public hop). 7-day DB cache preserves the 1,000 checks/day free-tier limit.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FRAUD SCORE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A weighted five-signal fraud score classifies emails as Legitimate, Suspicious, or Fraudulent — </a:t>
            </a:r>
            <a:r>
              <a:rPr sz="2300" b="1">
                <a:solidFill>
                  <a:srgbClr val="3B82F6"/>
                </a:solidFill>
              </a:rPr>
              <a:t>each layer contributes independently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11731752" cy="658368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9344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EDF3"/>
                </a:solidFill>
              </a:rPr>
              <a:t>Score = </a:t>
            </a:r>
            <a:r>
              <a:rPr sz="1600" b="1">
                <a:solidFill>
                  <a:srgbClr val="93C5FD"/>
                </a:solidFill>
              </a:rPr>
              <a:t>SPF</a:t>
            </a:r>
            <a:r>
              <a:rPr sz="1600" b="0">
                <a:solidFill>
                  <a:srgbClr val="8B949E"/>
                </a:solidFill>
              </a:rPr>
              <a:t>(20)</a:t>
            </a:r>
            <a:r>
              <a:rPr sz="1600" b="0">
                <a:solidFill>
                  <a:srgbClr val="3B82F6"/>
                </a:solidFill>
              </a:rPr>
              <a:t> + </a:t>
            </a:r>
            <a:r>
              <a:rPr sz="1600" b="1">
                <a:solidFill>
                  <a:srgbClr val="93C5FD"/>
                </a:solidFill>
              </a:rPr>
              <a:t>DKIM</a:t>
            </a:r>
            <a:r>
              <a:rPr sz="1600" b="0">
                <a:solidFill>
                  <a:srgbClr val="8B949E"/>
                </a:solidFill>
              </a:rPr>
              <a:t>(20)</a:t>
            </a:r>
            <a:r>
              <a:rPr sz="1600" b="0">
                <a:solidFill>
                  <a:srgbClr val="3B82F6"/>
                </a:solidFill>
              </a:rPr>
              <a:t> + </a:t>
            </a:r>
            <a:r>
              <a:rPr sz="1600" b="1">
                <a:solidFill>
                  <a:srgbClr val="93C5FD"/>
                </a:solidFill>
              </a:rPr>
              <a:t>DMARC</a:t>
            </a:r>
            <a:r>
              <a:rPr sz="1600" b="0">
                <a:solidFill>
                  <a:srgbClr val="8B949E"/>
                </a:solidFill>
              </a:rPr>
              <a:t>(15)</a:t>
            </a:r>
            <a:r>
              <a:rPr sz="1600" b="0">
                <a:solidFill>
                  <a:srgbClr val="3B82F6"/>
                </a:solidFill>
              </a:rPr>
              <a:t> + </a:t>
            </a:r>
            <a:r>
              <a:rPr sz="1600" b="1">
                <a:solidFill>
                  <a:srgbClr val="93C5FD"/>
                </a:solidFill>
              </a:rPr>
              <a:t>DomainAge</a:t>
            </a:r>
            <a:r>
              <a:rPr sz="1600" b="0">
                <a:solidFill>
                  <a:srgbClr val="8B949E"/>
                </a:solidFill>
              </a:rPr>
              <a:t>(20)</a:t>
            </a:r>
            <a:r>
              <a:rPr sz="1600" b="0">
                <a:solidFill>
                  <a:srgbClr val="3B82F6"/>
                </a:solidFill>
              </a:rPr>
              <a:t> + </a:t>
            </a:r>
            <a:r>
              <a:rPr sz="1600" b="1">
                <a:solidFill>
                  <a:srgbClr val="C4B5FD"/>
                </a:solidFill>
              </a:rPr>
              <a:t>HFClassifier</a:t>
            </a:r>
            <a:r>
              <a:rPr sz="1600" b="0">
                <a:solidFill>
                  <a:srgbClr val="8B949E"/>
                </a:solidFill>
              </a:rPr>
              <a:t>(15)</a:t>
            </a:r>
            <a:r>
              <a:rPr sz="1600" b="0">
                <a:solidFill>
                  <a:srgbClr val="3B82F6"/>
                </a:solidFill>
              </a:rPr>
              <a:t> + </a:t>
            </a:r>
            <a:r>
              <a:rPr sz="1600" b="1">
                <a:solidFill>
                  <a:srgbClr val="FCA5A5"/>
                </a:solidFill>
              </a:rPr>
              <a:t>AbuseIPDB</a:t>
            </a:r>
            <a:r>
              <a:rPr sz="1600" b="0">
                <a:solidFill>
                  <a:srgbClr val="8B949E"/>
                </a:solidFill>
              </a:rPr>
              <a:t>(10)</a:t>
            </a:r>
            <a:r>
              <a:rPr sz="1600" b="0">
                <a:solidFill>
                  <a:srgbClr val="8B949E"/>
                </a:solidFill>
              </a:rPr>
              <a:t>  |  </a:t>
            </a:r>
            <a:r>
              <a:rPr sz="1600" b="1">
                <a:solidFill>
                  <a:srgbClr val="10B981"/>
                </a:solidFill>
              </a:rPr>
              <a:t>max =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58568"/>
            <a:ext cx="3834384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2441448"/>
            <a:ext cx="3834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</a:rPr>
              <a:t>Legitimate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944368"/>
            <a:ext cx="3834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Score 0 – 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355848"/>
            <a:ext cx="3834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Low risk. Minor signals present
but no strong indicators.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7284" y="2258568"/>
            <a:ext cx="3834384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7284" y="2441448"/>
            <a:ext cx="3834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CD34D"/>
                </a:solidFill>
              </a:rPr>
              <a:t>Suspicious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7284" y="2944368"/>
            <a:ext cx="3834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CD34D"/>
                </a:solidFill>
              </a:rPr>
              <a:t>Score 40 – 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7284" y="3355848"/>
            <a:ext cx="3834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Multiple signals triggered.
Manual review recommended.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5968" y="2258568"/>
            <a:ext cx="3834384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5968" y="2441448"/>
            <a:ext cx="3834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CA5A5"/>
                </a:solidFill>
              </a:rPr>
              <a:t>Fraudulent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944368"/>
            <a:ext cx="3834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CA5A5"/>
                </a:solidFill>
              </a:rPr>
              <a:t>Score 60 –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5968" y="3355848"/>
            <a:ext cx="3834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Strong multi-signal consensus.
Block and investigate.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041648"/>
            <a:ext cx="3834384" cy="1828800"/>
          </a:xfrm>
          <a:prstGeom prst="rect">
            <a:avLst/>
          </a:prstGeom>
          <a:solidFill>
            <a:srgbClr val="160A0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041648"/>
            <a:ext cx="45720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4169664"/>
            <a:ext cx="3560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TRIPLE-AUTH-FAIL FLOOR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4480560"/>
            <a:ext cx="35600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If SPF + DKIM + DMARC all fail → score = max(40, computed_score).
Guarantees at least Suspicious verdict. Prevents clean IP from masking unauthenticated sender.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7284" y="4041648"/>
            <a:ext cx="3834384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1876" y="4169664"/>
            <a:ext cx="3560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SIGNAL INDEPENDENCE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1876" y="4480560"/>
            <a:ext cx="35600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Signals are additive and independent. Spear-phish with valid DMARC still scored by AI + domain age + AbuseIPDB. No single signal required to reach Fraudulent.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5968" y="4041648"/>
            <a:ext cx="3834384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0560" y="4169664"/>
            <a:ext cx="3560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DEDUPLICATION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560" y="4480560"/>
            <a:ext cx="35600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SHA-256 hash of raw .eml detects duplicates. Same email resubmitted returns cached result instantly — no re-analysis, no API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CAMPAIGN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Union-find clustering groups emails sharing originating IPs or sender domains into </a:t>
            </a:r>
            <a:r>
              <a:rPr sz="2300" b="1">
                <a:solidFill>
                  <a:srgbClr val="3B82F6"/>
                </a:solidFill>
              </a:rPr>
              <a:t>coordinated attack campaigns</a:t>
            </a:r>
            <a:r>
              <a:rPr sz="2300" b="1">
                <a:solidFill>
                  <a:srgbClr val="E6EDF3"/>
                </a:solidFill>
              </a:rPr>
              <a:t> in a single DB transaction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71323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1609344"/>
            <a:ext cx="329184" cy="329184"/>
          </a:xfrm>
          <a:prstGeom prst="rect">
            <a:avLst/>
          </a:prstGeom>
          <a:solidFill>
            <a:srgbClr val="1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609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C5FD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91056"/>
            <a:ext cx="6446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On each new email, query for existing emails sharing any public relay IP or the sender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67128"/>
            <a:ext cx="71323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2295144"/>
            <a:ext cx="329184" cy="329184"/>
          </a:xfrm>
          <a:prstGeom prst="rect">
            <a:avLst/>
          </a:prstGeom>
          <a:solidFill>
            <a:srgbClr val="1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2951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C5FD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76856"/>
            <a:ext cx="6446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Match found: new email joins the matching campaign immediately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852928"/>
            <a:ext cx="71323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" y="2980944"/>
            <a:ext cx="329184" cy="329184"/>
          </a:xfrm>
          <a:prstGeom prst="rect">
            <a:avLst/>
          </a:prstGeom>
          <a:solidFill>
            <a:srgbClr val="1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9809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C5FD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6446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Multiple matches across different campaigns: all campaigns merged — lowest ID wins (union-find root). All EmailCampaign rows reparented to survivor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538728"/>
            <a:ext cx="71323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666744"/>
            <a:ext cx="329184" cy="329184"/>
          </a:xfrm>
          <a:prstGeom prst="rect">
            <a:avLst/>
          </a:prstGeom>
          <a:solidFill>
            <a:srgbClr val="1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6667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C5FD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48456"/>
            <a:ext cx="6446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No match: new singleton campaign created for this email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315968"/>
            <a:ext cx="2316480" cy="640080"/>
          </a:xfrm>
          <a:prstGeom prst="rect">
            <a:avLst/>
          </a:prstGeom>
          <a:solidFill>
            <a:srgbClr val="0B1C1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4370832"/>
            <a:ext cx="2316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E7B7"/>
                </a:solidFill>
              </a:rPr>
              <a:t>IP-based linking
any shared relay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6520" y="4315968"/>
            <a:ext cx="2316480" cy="640080"/>
          </a:xfrm>
          <a:prstGeom prst="rect">
            <a:avLst/>
          </a:prstGeom>
          <a:solidFill>
            <a:srgbClr val="0B1C1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6520" y="4370832"/>
            <a:ext cx="2316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E7B7"/>
                </a:solidFill>
              </a:rPr>
              <a:t>Domain-based linking
same From: domain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4440" y="4315968"/>
            <a:ext cx="2316480" cy="640080"/>
          </a:xfrm>
          <a:prstGeom prst="rect">
            <a:avLst/>
          </a:prstGeom>
          <a:solidFill>
            <a:srgbClr val="0B1C1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440" y="4370832"/>
            <a:ext cx="2316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E7B7"/>
                </a:solidFill>
              </a:rPr>
              <a:t>Retroactive merge
past campaigns unified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065776"/>
            <a:ext cx="7132320" cy="658368"/>
          </a:xfrm>
          <a:prstGeom prst="rect">
            <a:avLst/>
          </a:prstGeom>
          <a:solidFill>
            <a:srgbClr val="100D1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57216"/>
            <a:ext cx="6858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Atomic: All clustering runs inside a single Prisma $transaction — the DB write, IP insert, domain insert, URL insert, and campaign assignment either all succeed or all roll back.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481328"/>
            <a:ext cx="4416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CAMPAIGN MERGE EXAMPLE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755648"/>
            <a:ext cx="4416552" cy="4663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26680" y="1892808"/>
            <a:ext cx="1933956" cy="777240"/>
          </a:xfrm>
          <a:prstGeom prst="rect">
            <a:avLst/>
          </a:prstGeom>
          <a:solidFill>
            <a:srgbClr val="0D152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1938528"/>
            <a:ext cx="1933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Campaign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258568"/>
            <a:ext cx="19339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Email 1 · Email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43516" y="1892808"/>
            <a:ext cx="1933956" cy="777240"/>
          </a:xfrm>
          <a:prstGeom prst="rect">
            <a:avLst/>
          </a:prstGeom>
          <a:solidFill>
            <a:srgbClr val="0A132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3516" y="1938528"/>
            <a:ext cx="19339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Campaign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3516" y="2258568"/>
            <a:ext cx="19339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Email 3 · Email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93658" y="2852928"/>
            <a:ext cx="2208276" cy="777240"/>
          </a:xfrm>
          <a:prstGeom prst="rect">
            <a:avLst/>
          </a:prstGeom>
          <a:solidFill>
            <a:srgbClr val="19140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3658" y="2898648"/>
            <a:ext cx="22082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CD34D"/>
                </a:solidFill>
              </a:rPr>
              <a:t>Email 5 (new)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3658" y="3236976"/>
            <a:ext cx="22082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Shares IP with A · Shares domain with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767328"/>
            <a:ext cx="4416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↓ merge triggered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80" y="4224528"/>
            <a:ext cx="4142232" cy="822960"/>
          </a:xfrm>
          <a:prstGeom prst="rect">
            <a:avLst/>
          </a:prstGeom>
          <a:solidFill>
            <a:srgbClr val="1A0808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4297680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CA5A5"/>
                </a:solidFill>
              </a:rPr>
              <a:t>Campaign A (survivor)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4636008"/>
            <a:ext cx="4142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Emails 1, 2, 3, 4, 5 — lowest ID wins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157216"/>
            <a:ext cx="4416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Campaign B deleted. All rows reparented.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6510528"/>
            <a:ext cx="4416552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6565392"/>
            <a:ext cx="4416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RESULT IN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6784848"/>
            <a:ext cx="4142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Campaigns page shows correlated emails grouped · Campaign attribution visible on result page · Coordinated attacks show as clusters of 2+ emails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LIVE END-TO-END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End-to-end analysis of a real phishing email completed in </a:t>
            </a:r>
            <a:r>
              <a:rPr sz="2300" b="1">
                <a:solidFill>
                  <a:srgbClr val="3B82F6"/>
                </a:solidFill>
              </a:rPr>
              <a:t>under 30 seconds</a:t>
            </a:r>
            <a:r>
              <a:rPr sz="2300" b="1">
                <a:solidFill>
                  <a:srgbClr val="E6EDF3"/>
                </a:solidFill>
              </a:rPr>
              <a:t> — verdict: </a:t>
            </a:r>
            <a:r>
              <a:rPr sz="2300" b="1">
                <a:solidFill>
                  <a:srgbClr val="EF4444"/>
                </a:solidFill>
              </a:rPr>
              <a:t>Fraudulent, 65/100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481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SSE STREAM (LIVE)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55648"/>
            <a:ext cx="5303520" cy="420624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110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828800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"step":"headers", "spf":"fail", "dkim":"fail", "dmarc":"fail", "hopCount":1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231136"/>
            <a:ext cx="5303520" cy="420624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86584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304288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"step":"geolocation", "status":"done", "hops":1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706624"/>
            <a:ext cx="5303520" cy="420624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86207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779776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"step":"classification", "status":"unavailable", "score":null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182112"/>
            <a:ext cx="5303520" cy="420624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255264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"step":"whois", "status":"done", "ageDays":null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657600"/>
            <a:ext cx="5303520" cy="420624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81304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730752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"step":"reputation", "status":"done", "abuseScore":100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133088"/>
            <a:ext cx="5303520" cy="420624"/>
          </a:xfrm>
          <a:prstGeom prst="rect">
            <a:avLst/>
          </a:prstGeom>
          <a:solidFill>
            <a:srgbClr val="160A0A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28853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206240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"step":"complete", "verdict":"Fraudulent", "score":65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718304"/>
            <a:ext cx="5303520" cy="777240"/>
          </a:xfrm>
          <a:prstGeom prst="rect">
            <a:avLst/>
          </a:prstGeom>
          <a:solidFill>
            <a:srgbClr val="0A1814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809744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</a:rPr>
              <a:t>&lt;30s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2803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End-to-end pipeline time
From .eml paste to verdict + PDF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605272"/>
            <a:ext cx="5303520" cy="59436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5660136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IOC — Phishing URL extracted: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587959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http://paypa1-verify.com/secure/login?cmd=_account-verify&amp;token=ABC123XYZ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481328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FORENSIC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1755648"/>
            <a:ext cx="6199632" cy="256031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18105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810512"/>
            <a:ext cx="4553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VALUE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2011680"/>
            <a:ext cx="6199632" cy="365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20939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Sender domain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09397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paypa1-verify.com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377440"/>
            <a:ext cx="6199632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24597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Originating 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245973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185.220.101.47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2743200"/>
            <a:ext cx="6199632" cy="365760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28254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IP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82549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</a:rPr>
              <a:t>Tor exit node (dan.me.uk)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3108960"/>
            <a:ext cx="6199632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319125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Country / ASN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319125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Germany (DE)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474720"/>
            <a:ext cx="6199632" cy="365760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355701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AbuseIPDB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355701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100% confidence score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3840480"/>
            <a:ext cx="6199632" cy="365760"/>
          </a:xfrm>
          <a:prstGeom prst="rect">
            <a:avLst/>
          </a:prstGeom>
          <a:solidFill>
            <a:srgbClr val="180A0A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39227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Auth SPF/DKIM/DMARC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392277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fail / fail / fail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206240"/>
            <a:ext cx="6199632" cy="365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7880" y="42885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AI classification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28853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Unavailable (cold start)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06440" y="4572000"/>
            <a:ext cx="6199632" cy="365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97880" y="46542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WHOIS 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465429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null (new TLD)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937760"/>
            <a:ext cx="6199632" cy="365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80" y="502005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Score breakdown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5020056"/>
            <a:ext cx="43708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SPF(20)+DKIM(20)+DMARC(15)+Abuse(10) = 65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5394960"/>
            <a:ext cx="6199632" cy="960120"/>
          </a:xfrm>
          <a:prstGeom prst="rect">
            <a:avLst/>
          </a:prstGeom>
          <a:solidFill>
            <a:srgbClr val="1A0707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20" y="5486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VERDICT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</a:rPr>
              <a:t>FRAUDULENT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43032" y="5440680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EF4444"/>
                </a:solidFill>
              </a:rPr>
              <a:t>65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11712" y="58978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/100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6446520"/>
            <a:ext cx="619963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16168" y="6537960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PDF report at /api/report/&lt;id&gt; — 8 sections: Executive Summary, Authentication, Geolocation Trace, IOCs, Campaign Attribution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Current system is production-ready for forensic analysis — three limitations identify </a:t>
            </a:r>
            <a:r>
              <a:rPr sz="2300" b="1">
                <a:solidFill>
                  <a:srgbClr val="3B82F6"/>
                </a:solidFill>
              </a:rPr>
              <a:t>clear upgrade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CURRENT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57607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783080"/>
            <a:ext cx="54864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74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L1  HuggingFace Cold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67128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free-tier Inference API hibernates after inactivity. The keep-alive GitHub Actions cron fires every 3 days, but the first post-hibernation analysis loses the +15 AI score contribution (marked unavailable). A paid HF endpoint or a self-hosted model eliminates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108960"/>
            <a:ext cx="57607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108960"/>
            <a:ext cx="54864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200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L2  WHOIS Null for New TLDs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493008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Many newer TLDs and country-code TLDs do not respond to standard WHOIS queries, returning null for domain age. Emails from paypa1-verify.com fell into this case — the +20 domain-age signal was not 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434840"/>
            <a:ext cx="57607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434840"/>
            <a:ext cx="54864" cy="12344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526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L3  Single-Tenant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818888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platform runs as a single Next.js deployment. Under high load (batch CERT submissions), the SSE pipeline may exhaust Vercel’s function concurrency. Rate limiting and a queue layer are needed for enterprise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FUTURE DIRECTIONS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783080"/>
            <a:ext cx="571500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F1  Fine-Tuned Classification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67128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Replace zero-shot BART with a fine-tuned model trained on the CEAS 2008 or SpamAssassin dataset. Expected: F1 improvement from ~0.71 to 0.88+. Containerise as a sidecar service.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108960"/>
            <a:ext cx="571500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F2  Attachment &amp; URL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93008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Execute email attachments and URLs in a sandboxed VM (Cuckoo or cloud detonation API). Add sandbox verdict as Signal 6 — +15 pts if malicious payload detected.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434840"/>
            <a:ext cx="571500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B5FD"/>
                </a:solidFill>
              </a:rPr>
              <a:t>F3  Longitudinal Campaign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18888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Build a time-series view of campaign evolution — detect actors who rotate IPs but reuse domains, subject templates, or DKIM key fragments. ML cluster drift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91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72" y="91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6808" y="17373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4824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EmailThreat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E6EDF3"/>
                </a:solidFill>
              </a:rPr>
              <a:t>EmailThreat delivers the </a:t>
            </a:r>
            <a:r>
              <a:rPr sz="2300" b="1">
                <a:solidFill>
                  <a:srgbClr val="3B82F6"/>
                </a:solidFill>
              </a:rPr>
              <a:t>first open-source, serverless-native</a:t>
            </a:r>
            <a:r>
              <a:rPr sz="2300" b="1">
                <a:solidFill>
                  <a:srgbClr val="E6EDF3"/>
                </a:solidFill>
              </a:rPr>
              <a:t> multi-signal email forensic platform — </a:t>
            </a:r>
            <a:r>
              <a:rPr sz="2300" b="1">
                <a:solidFill>
                  <a:srgbClr val="10B981"/>
                </a:solidFill>
              </a:rPr>
              <a:t>live and production-verified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4630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77724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73736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0195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✓  Five independent signals: </a:t>
            </a:r>
            <a:r>
              <a:rPr sz="1200" b="0">
                <a:solidFill>
                  <a:srgbClr val="C9D1D9"/>
                </a:solidFill>
              </a:rPr>
              <a:t>outperform single-signal blockers. Triple-auth-fail floor rule guarantees Suspicious verdict even when IP reputation is clean.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496312"/>
            <a:ext cx="77724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496312"/>
            <a:ext cx="54864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6090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✓  SSE streaming pipeline: </a:t>
            </a:r>
            <a:r>
              <a:rPr sz="1200" b="0">
                <a:solidFill>
                  <a:srgbClr val="C9D1D9"/>
                </a:solidFill>
              </a:rPr>
              <a:t>bypasses Vercel’s 10s serverless timeout, enabling real-time forensic progress for analysts during live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55264"/>
            <a:ext cx="77724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255264"/>
            <a:ext cx="54864" cy="6858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1985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</a:rPr>
              <a:t>✓  Zero-shot AI classification: </a:t>
            </a:r>
            <a:r>
              <a:rPr sz="1200" b="0">
                <a:solidFill>
                  <a:srgbClr val="C9D1D9"/>
                </a:solidFill>
              </a:rPr>
              <a:t>with bart-large-mnli adds a language-model signal without any labelled training data or retraining infrastructure.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14216"/>
            <a:ext cx="77724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014216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788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✓  Union-find campaign clustering: </a:t>
            </a:r>
            <a:r>
              <a:rPr sz="1200" b="0">
                <a:solidFill>
                  <a:srgbClr val="C9D1D9"/>
                </a:solidFill>
              </a:rPr>
              <a:t>runs atomically in a single Prisma transaction, linking coordinated attacks retroactively across the entire email corpus.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73168"/>
            <a:ext cx="77724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773168"/>
            <a:ext cx="54864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9377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✓  Live demo validated: </a:t>
            </a:r>
            <a:r>
              <a:rPr sz="1200" b="0">
                <a:solidFill>
                  <a:srgbClr val="C9D1D9"/>
                </a:solidFill>
              </a:rPr>
              <a:t>on a real phishing email (paypa1-verify.com, Tor exit node 185.220.101.47): verdict FRAUDULENT 65/100 in under 30 seconds.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463040"/>
            <a:ext cx="3776472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51790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</a:rPr>
              <a:t>&lt;30s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920240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end-to-end analysis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86000"/>
            <a:ext cx="3776472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34086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F4444"/>
                </a:solidFill>
              </a:rPr>
              <a:t>65/100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43200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live fraud score (verified)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776472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6382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independent signal layers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776472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8678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4B5FD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389120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forensic report sections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864608"/>
            <a:ext cx="3776472" cy="1097280"/>
          </a:xfrm>
          <a:prstGeom prst="rect">
            <a:avLst/>
          </a:prstGeom>
          <a:solidFill>
            <a:srgbClr val="0C1220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956048"/>
            <a:ext cx="3776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LIVE 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230368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sih2026-email-threat.vercel.app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596128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github.com/userisaziz/email-threat-platform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" y="635508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FBI IC3 (2023). Internet Crime Report. · Mishra, S. &amp; Sharma, A. (2022). Zero-shot phishing detection. · NIST SP 800-177r1. · dan.me.uk Tor exit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