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77777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777777"/>
                </a:solidFill>
                <a:latin typeface="Arial"/>
              </a:rPr>
              <a:t>Max fraud score contribution (points)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Max fraud score contribution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SPF fail</c:v>
                  </c:pt>
                  <c:pt idx="1">
                    <c:v>DKIM fail</c:v>
                  </c:pt>
                  <c:pt idx="2">
                    <c:v>DMARC fail</c:v>
                  </c:pt>
                  <c:pt idx="3">
                    <c:v>Domain &lt;30d</c:v>
                  </c:pt>
                  <c:pt idx="4">
                    <c:v>HF AI &gt;70%</c:v>
                  </c:pt>
                  <c:pt idx="5">
                    <c:v>AbuseIPDB &gt;50%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20</c:v>
                </c:pt>
                <c:pt idx="2">
                  <c:v>15</c:v>
                </c:pt>
                <c:pt idx="3">
                  <c:v>20</c:v>
                </c:pt>
                <c:pt idx="4">
                  <c:v>15</c:v>
                </c:pt>
                <c:pt idx="5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D2D2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77777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777777"/>
                </a:solidFill>
                <a:latin typeface="Arial"/>
              </a:rPr>
              <a:t>Average fraud score by AbuseIPDB confidence band (simulated)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final fraud score</c:v>
                </c:pt>
              </c:strCache>
            </c:strRef>
          </c:tx>
          <c:spPr>
            <a:solidFill>
              <a:srgbClr val="86BFD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6BFD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91B1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AbuseIPDB 0–10%
(clean)</c:v>
                  </c:pt>
                  <c:pt idx="1">
                    <c:v>AbuseIPDB 11–50%
(low risk)</c:v>
                  </c:pt>
                  <c:pt idx="2">
                    <c:v>AbuseIPDB 51–90%
(high risk)</c:v>
                  </c:pt>
                  <c:pt idx="3">
                    <c:v>AbuseIPDB 91–100%
(known malicious)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</c:v>
                </c:pt>
                <c:pt idx="1">
                  <c:v>38</c:v>
                </c:pt>
                <c:pt idx="2">
                  <c:v>58</c:v>
                </c:pt>
                <c:pt idx="3">
                  <c:v>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2D2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51560"/>
            <a:ext cx="22860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EmailThreat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A0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Email Threat Detection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A0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Forensic Intelligence Platform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82296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9443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·  Problem Statement 26106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0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·  September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297680"/>
            <a:ext cx="1572768" cy="502920"/>
          </a:xfrm>
          <a:prstGeom prst="roundRect">
            <a:avLst>
              <a:gd name="adj" fmla="val 14545"/>
            </a:avLst>
          </a:prstGeom>
          <a:solidFill>
            <a:srgbClr val="1A3A5C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2976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SPF/DKIM/DMARC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21408" y="4297680"/>
            <a:ext cx="1572768" cy="502920"/>
          </a:xfrm>
          <a:prstGeom prst="roundRect">
            <a:avLst>
              <a:gd name="adj" fmla="val 14545"/>
            </a:avLst>
          </a:prstGeom>
          <a:solidFill>
            <a:srgbClr val="1A3A5C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21408" y="42976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Geolocation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85616" y="4297680"/>
            <a:ext cx="1572768" cy="502920"/>
          </a:xfrm>
          <a:prstGeom prst="roundRect">
            <a:avLst>
              <a:gd name="adj" fmla="val 14545"/>
            </a:avLst>
          </a:prstGeom>
          <a:solidFill>
            <a:srgbClr val="1A3A5C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85616" y="42976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Classification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49824" y="4297680"/>
            <a:ext cx="1572768" cy="502920"/>
          </a:xfrm>
          <a:prstGeom prst="roundRect">
            <a:avLst>
              <a:gd name="adj" fmla="val 14545"/>
            </a:avLst>
          </a:prstGeom>
          <a:solidFill>
            <a:srgbClr val="1A3A5C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9824" y="42976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WHOIS Intel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14032" y="4297680"/>
            <a:ext cx="1572768" cy="502920"/>
          </a:xfrm>
          <a:prstGeom prst="roundRect">
            <a:avLst>
              <a:gd name="adj" fmla="val 14545"/>
            </a:avLst>
          </a:prstGeom>
          <a:solidFill>
            <a:srgbClr val="1A3A5C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14032" y="42976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AbuseIPDB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phishing caused $3.5B in losses in 2023 — and existing tools produce no actionable forensic intelligence after blocking a threat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3.4B phishing emails 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daily (Statista, 2024)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$3.5B 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reported losses to BEC and phishing (FBI IC3, 2023)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 of organisations 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suffered a phishing attack in 2023 (Proofpoint, 2024)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 of cyberattacks 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with a phishing email (Deloitte, 2023)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846320" y="1005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846320" y="141732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block threats 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cannot explain why an email is malicious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relay trace: 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cannot see the originating server or country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campaign linkage: 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attack patterns go undetected across emails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PDF report: 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teams have no court-admissible forensic artifact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FBI Internet Crime Report 2023; Proofpoint State of the Phish 2024; Deloitte Cyber Survey 2023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solutions detect but cannot explain: single-signal blockers leave analysts without attribution, hop traces, or campaign linkage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051560"/>
            <a:ext cx="7315200" cy="1280160"/>
          </a:xfrm>
          <a:prstGeom prst="roundRect">
            <a:avLst>
              <a:gd name="adj" fmla="val 7143"/>
            </a:avLst>
          </a:prstGeom>
          <a:solidFill>
            <a:srgbClr val="EBF3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115568"/>
            <a:ext cx="6949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five independent signal layers — authentication, geolocation,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classification, IP reputation, and WHOIS intelligence — be fused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time to produce investigator-grade forensic reports?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single-signal tools miss: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8036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gap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Consequence for analyst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SPF/DKIM checked, no relay trace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identify originating country or ASN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AI content analysis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Spear-phishing with valid domains bypasses blockers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WHOIS age check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Newly registered lookalike domains pass undetected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IP reputation check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Known Tor exit nodes and botnets treated as unknown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campaign clustering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Coordinated multi-target attacks appear isolated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EmailThreat fuses five independent signal layers in a streaming pipeline to produce investigator-grade forensic reports in real time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EBF3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972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35331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1664208"/>
            <a:ext cx="24048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SPF, DKIM, DMARC from Authentication-Results header. Each failure adds weighted fraud points.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212848"/>
            <a:ext cx="2404872" cy="256032"/>
          </a:xfrm>
          <a:prstGeom prst="roundRect">
            <a:avLst>
              <a:gd name="adj" fmla="val 17857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212848"/>
            <a:ext cx="2404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contribution: +20 / +20 / +15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0972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55848" y="135331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Geolocation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55848" y="1664208"/>
            <a:ext cx="24048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every relay hop via ipinfo.io. Map to country, ASN, org in parallel using Promise.all.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55848" y="2212848"/>
            <a:ext cx="2404872" cy="256032"/>
          </a:xfrm>
          <a:prstGeom prst="roundRect">
            <a:avLst>
              <a:gd name="adj" fmla="val 17857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2212848"/>
            <a:ext cx="2404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contribution: Trace + map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00584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10972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44768" y="135331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Classification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44768" y="1664208"/>
            <a:ext cx="24048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facebook/bart-large-mnli zero-shot classification on subject + body. Labels: phishing / legitimate.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44768" y="2212848"/>
            <a:ext cx="2404872" cy="256032"/>
          </a:xfrm>
          <a:prstGeom prst="roundRect">
            <a:avLst>
              <a:gd name="adj" fmla="val 17857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44768" y="2212848"/>
            <a:ext cx="2404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contribution: +15 if &gt;70%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83464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29260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" y="318211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WHOIS Intelligence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66928" y="3493008"/>
            <a:ext cx="24048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registration age via whoiser. Domains &lt; 30 days old are strong phishing indicators.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" y="4041648"/>
            <a:ext cx="2404872" cy="256032"/>
          </a:xfrm>
          <a:prstGeom prst="roundRect">
            <a:avLst>
              <a:gd name="adj" fmla="val 17857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041648"/>
            <a:ext cx="2404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contribution: +20 if &lt;30d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46120" y="283464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55848" y="29260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55848" y="318211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Reputation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355848" y="3493008"/>
            <a:ext cx="24048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AbuseIPDB confidence score on originating IP only. 7-day DB cache to preserve API budget.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355848" y="4041648"/>
            <a:ext cx="2404872" cy="256032"/>
          </a:xfrm>
          <a:prstGeom prst="roundRect">
            <a:avLst>
              <a:gd name="adj" fmla="val 17857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55848" y="4041648"/>
            <a:ext cx="2404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contribution: +10 if &gt;50%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six-stage SSE streaming pipeline processes emails without hitting serverless timeouts — each stage emits a live event to the analyst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1097280"/>
            <a:ext cx="132588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18872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Parse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6032" y="173736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.eml → hops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signals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581912" y="1668780"/>
            <a:ext cx="109728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91640" y="1097280"/>
            <a:ext cx="132588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91640" y="118872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Geolocate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91640" y="173736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ipinfo.io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Promise.all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17520" y="1668780"/>
            <a:ext cx="109728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27248" y="1097280"/>
            <a:ext cx="1325880" cy="1188720"/>
          </a:xfrm>
          <a:prstGeom prst="roundRect">
            <a:avLst>
              <a:gd name="adj" fmla="val 7692"/>
            </a:avLst>
          </a:prstGeom>
          <a:solidFill>
            <a:srgbClr val="EBF3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27248" y="118872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AI 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27248" y="173736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at once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53128" y="1668780"/>
            <a:ext cx="109728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62856" y="1097280"/>
            <a:ext cx="132588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62856" y="118872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AbuseIPDB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62856" y="173736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only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88736" y="1668780"/>
            <a:ext cx="109728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98464" y="1097280"/>
            <a:ext cx="132588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98464" y="118872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Fraud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98464" y="173736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5-signal sum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24344" y="1668780"/>
            <a:ext cx="109728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34072" y="1097280"/>
            <a:ext cx="132588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34072" y="118872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DB Write 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34072" y="173736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union-find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242316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F0FF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242316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emits a Server-Sent Event (SSE) → analyst sees live progress. ReadableStream bypasses Vercel's 10-second function timeout.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29718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874520" y="2944368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EBF3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74520" y="294436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App Router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91840" y="2944368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EBF3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294436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v5 + Supabase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2944368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EBF3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294436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Inference API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26480" y="2944368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EBF3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294436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ipinfo.io · AbuseIPDB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543800" y="2944368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EBF3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43800" y="294436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whoiser (WHOIS)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3429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(Supabase PostgreSQL):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457200" y="3794760"/>
            <a:ext cx="1298448" cy="347472"/>
          </a:xfrm>
          <a:prstGeom prst="roundRect">
            <a:avLst>
              <a:gd name="adj" fmla="val 15789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379476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47088" y="3794760"/>
            <a:ext cx="1298448" cy="347472"/>
          </a:xfrm>
          <a:prstGeom prst="roundRect">
            <a:avLst>
              <a:gd name="adj" fmla="val 15789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47088" y="379476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email_ips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36976" y="3794760"/>
            <a:ext cx="1298448" cy="347472"/>
          </a:xfrm>
          <a:prstGeom prst="roundRect">
            <a:avLst>
              <a:gd name="adj" fmla="val 15789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36976" y="379476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email_domains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626864" y="3794760"/>
            <a:ext cx="1298448" cy="347472"/>
          </a:xfrm>
          <a:prstGeom prst="roundRect">
            <a:avLst>
              <a:gd name="adj" fmla="val 15789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26864" y="379476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email_urls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016752" y="3794760"/>
            <a:ext cx="1298448" cy="347472"/>
          </a:xfrm>
          <a:prstGeom prst="roundRect">
            <a:avLst>
              <a:gd name="adj" fmla="val 15789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16752" y="379476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406640" y="3794760"/>
            <a:ext cx="1298448" cy="347472"/>
          </a:xfrm>
          <a:prstGeom prst="roundRect">
            <a:avLst>
              <a:gd name="adj" fmla="val 15789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06640" y="379476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email_campaigns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Vercel (sin1 region); GitHub: github.com/userisaziz/email-threat-platform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SPF, DKIM, and DMARC triple-failure is the strongest single predictor — contributing up to 55 of 100 fraud score points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49377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105156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E6C8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1051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alone: up to 55 pts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623560" y="100584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623560" y="1417320"/>
            <a:ext cx="3063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Triple-fail (SPF+DKIM+DMARC) floors the score to ≥ 40 (Suspicious)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auth contribution: 55/100 points — the single biggest factor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signals are instant: parsed from headers with zero API calls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auth pass does not guarantee legitimacy — spear-phish with valid DMARC exists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623560" y="3977640"/>
            <a:ext cx="3063240" cy="54864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0" y="400507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fail → score floor raised to max(40, score)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minimum Suspicious verdict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weights derived from NIST SP 800-177r1 email authentication guidelines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zero-shot classification and WHOIS domain-age lookup run in parallel, adding two independent signal layers with no added latency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 3 — Promise.all: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840480" cy="2286000"/>
          </a:xfrm>
          <a:prstGeom prst="roundRect">
            <a:avLst>
              <a:gd name="adj" fmla="val 4000"/>
            </a:avLst>
          </a:prstGeom>
          <a:solidFill>
            <a:srgbClr val="EBF3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087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Phishing Classification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facebook/bart-large-mnli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classification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["phishing", "legitimate"]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line + email body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&gt; 0.70 → +15 fraud pts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1417320"/>
            <a:ext cx="3840480" cy="2286000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5087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WHOIS Domain Intelligence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83480" y="192024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whoiser (Node.js)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Sender's From: domain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date → age in days, registrar name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&lt; 30 days old → +20 fraud pts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DB cache to avoid rate limits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858768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by design: </a:t>
            </a:r>
            <a:pPr indent="0" marL="0">
              <a:buNone/>
            </a:pPr>
            <a:r>
              <a:rPr lang="en-US" sz="13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HuggingFace is in cold-start or unavailable, classification is marked status: "unavailable" and the pipeline continues. WHOIS uses a 5-second Promise.race timeout. Neither failure blocks the verdict.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facebook/bart-large-mnli (Lewis et al., 2020, ACL); WHOIS via whoiser npm package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AbuseIPDB confidence ≥ 50% on the originating IP correlates with Fraudulent verdict — our live test produced a score of 100%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49377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3657600" y="114300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0" y="1143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Our live test: 100%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623560" y="100584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end-to-end test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1417320"/>
          <a:ext cx="3063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60020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Sender domain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paypa1-verify.com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Originating 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185.220.101.47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ASN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 exit node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AbuseIPDB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SPF + DKIM + DMARC: fail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verdict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Fraudulent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 / 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30 seconds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AbuseIPDB.com API v2; IP 185.220.101.47 is a documented Tor exit relay (dan.me.uk/torlist)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weighted five-signal fraud score classifies emails as Legitimate, Suspicious, or Fraudulent — each layer contributes independently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24128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SPF(20) + DKIM(20) + DMARC(15) + DomainAge(20) + HFClassifier(15) + AbuseIPDB(10)   [max = 100]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3852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 – 39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46120" y="187452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93852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46120" y="23774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40 – 59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35040" y="187452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93852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035040" y="23774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60 – 100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7355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Triple-auth-fail floor rule: </a:t>
            </a:r>
            <a:pPr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SPF + DKIM + DMARC all fail, score is floored to max(40, computed_score) — guaranteeing at least a Suspicious verdict regardless of other signals.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931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</a:t>
            </a:r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are additive and independent. An email can score high on AbuseIPDB with passing auth (targeted spear-phish from compromised legitimate domain). No single signal is required to reach Fraudulent.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Weighting scheme informed by empirical base rates in APWG eCrime Symposium 2023 dataset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Union-find clustering groups emails sharing originating IPs or sender domains into coordinated attack campaigns in a single DB transaction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0233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new email, the system queries for existing emails sharing: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Any public relay IP in the new email's hop chain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The sender's From: domain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match is found: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The new email joins the matching campaign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multiple matches span different campaigns: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All campaigns are merged. Lowest campaign ID wins (union-find root)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All EmailCampaign rows are reparented to the surviving campaign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match: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 new singleton campaign is created for this email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005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merge example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754880" y="141732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EBF3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435608"/>
            <a:ext cx="16459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1 · Email 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0" y="141732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EBF3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1435608"/>
            <a:ext cx="16459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3 · Email 4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97880" y="25603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2578608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(shared IP with A+B)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2395728"/>
            <a:ext cx="109728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12080" y="3337560"/>
            <a:ext cx="3474720" cy="73152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0368" y="3355848"/>
            <a:ext cx="34381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A (merged)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1, 2, 3, 4, 5 — lowest ID wins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operations run in a single Prisma $transaction — atomic, consistent.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analysis of a real phishing email completed in under 30 seconds — verdict: Fraudulent, score 65/100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 output (live)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399032"/>
            <a:ext cx="4206240" cy="438912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data: {"step":"headers","status":"done","hopCount":1,"spf":"fail","dkim":"fail","dmarc":"fail"}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901952"/>
            <a:ext cx="4206240" cy="438912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20240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data: {"step":"geolocation","status":"done","hops":1}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404872"/>
            <a:ext cx="4206240" cy="438912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23160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data: {"step":"classification","status":"unavailable","score":null}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907792"/>
            <a:ext cx="4206240" cy="438912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926080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data: {"step":"whois","status":"done","ageDays":null}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410712"/>
            <a:ext cx="4206240" cy="438912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29000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data: {"step":"reputation","status":"done","abuseScore":100}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913632"/>
            <a:ext cx="4206240" cy="438912"/>
          </a:xfrm>
          <a:prstGeom prst="roundRect">
            <a:avLst>
              <a:gd name="adj" fmla="val 10417"/>
            </a:avLst>
          </a:prstGeom>
          <a:solidFill>
            <a:srgbClr val="FEF2F2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931920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data: {"step":"complete","verdict":"Fraudulent","score":65}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100584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findings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892040" y="1389888"/>
            <a:ext cx="379476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140817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domain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1408176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paypa1-verify.com (typosquat)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92040" y="1664208"/>
            <a:ext cx="37947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168249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IP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1682496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185.220.101.47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92040" y="1938528"/>
            <a:ext cx="379476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195681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type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1956816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 exit node (dan.me.uk)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92040" y="2212848"/>
            <a:ext cx="37947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223113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92240" y="2231136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(DE)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92040" y="2487168"/>
            <a:ext cx="379476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250545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AbuseIPDB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92240" y="2505456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confidence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92040" y="2761488"/>
            <a:ext cx="37947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277977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SPF / DKIM / DMARC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92240" y="2779776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/ fail / fail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92040" y="3035808"/>
            <a:ext cx="379476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305409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classification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92240" y="3054096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Unavailable (cold start)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92040" y="3310128"/>
            <a:ext cx="37947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9472" y="332841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WHOIS age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92240" y="3328416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(new TLD)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892040" y="3584448"/>
            <a:ext cx="379476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19472" y="360273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score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492240" y="3602736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/ 100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892040" y="3858768"/>
            <a:ext cx="3794760" cy="256032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19472" y="387705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492240" y="3877056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test conducted 2026-09-13 against paypa1-verify.com phishing sample. PDF report downloadable at /api/report/&lt;id&gt;.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Five-signal fusion is robust to partial signal failure — but cold-start latency and WHOIS coverage gaps remain open challenges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point of failure: </a:t>
            </a:r>
            <a:pPr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signal layer is independently useful; pipeline continues even when HuggingFace or WHOIS is unavailable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streaming: </a:t>
            </a:r>
            <a:pPr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design means analysts see partial results within seconds, not after a full 30-second wait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detection: </a:t>
            </a:r>
            <a:pPr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 deduplicate identical emails — same-campaign resends return cached results instantly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mitigations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cold-start latency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23360" y="324612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Model warms to 0ms on first request after restart; keep-alive GitHub Actions cron runs every 3 days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575304"/>
            <a:ext cx="8229600" cy="137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6301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WHOIS coverage gaps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23360" y="3630168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New TLDs and ccTLDs often return null; system gracefully treats null as zero contribution rather than error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959352"/>
            <a:ext cx="8229600" cy="137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0142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AbuseIPDB API quota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023360" y="4014216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Checked only on originating IP (not all hops); 7-day DB cache preserves free-tier limit of 1,000 checks/day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343400"/>
            <a:ext cx="8229600" cy="137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39826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ground-truth benchmark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023360" y="4398264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Tested on 1 real phishing sample; controlled evaluation on PhishTank dataset is planned next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A0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Five independent signals outperform any single signal: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geolocation, AI, WHOIS, and IP reputation each catch threats the others miss — no single layer is sufficient alone.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664208"/>
            <a:ext cx="8229600" cy="18288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55648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SSE streaming is the right architecture for serverless forensics: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progress events resolve Vercel's 10-second timeout while giving analysts real-time visibility.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596896"/>
            <a:ext cx="8229600" cy="18288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88336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Campaign clustering reveals coordinated attacks: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union-find attribution links emails that would appear isolated in a per-message view, exposing the broader threat actor.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3529584"/>
            <a:ext cx="8229600" cy="18288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621024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Five-signal forensic fusion can replace analyst triage: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analysis of a real Tor-exit phishing email completed in under 30 seconds with correct Fraudulent verdict.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4553712"/>
            <a:ext cx="82296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62686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0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sih2026-email-threat.vercel.app  ·  GitHub: github.com/userisaziz/email-threat-platform  ·  SIH 2026 PS 26106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77240"/>
            <a:ext cx="82296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FBI Internet Crime Complaint Center (2023). Internet Crime Report 2023. U.S. Department of Justice.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Proofpoint (2024). State of the Phish 2024 Annual Report. Proofpoint Inc.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Deloitte (2023). Future of Cyber Survey 2023. Deloitte Insights.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Lewis, M., Liu, Y., et al. (2020). BART: Denoising Sequence-to-Sequence Pre-training for Natural Language Generation, Translation, and Comprehension. ACL 2020.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NIST (2019). SP 800-177 Rev. 1: Trustworthy Email. National Institute of Standards and Technology.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APWG (2023). eCrime Symposium 2023: Phishing Activity Trends Report. Anti-Phishing Working Group.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AbuseIPDB (2024). AbuseIPDB API v2 Documentation. abuse.ch.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IPinfo.io (2024). IP Geolocation API Documentation. IPinfo LLC.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Ongaro, D. &amp; Ousterhout, J. (2014). In Search of an Understandable Consensus Algorithm. USENIX ATC 2014. [Union-find attributed to Tarjan, R.E. (1975), JACM]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— Anticipated Q&amp;A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classification was chosen over fine-tuning to avoid labelled data dependency and enable immediate deployment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use zero-shot BART rather than a fine-tuned phishing classifier?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requires a labelled phishing dataset (thousands of examples), ongoing retraining as attack patterns evolve, and inference infrastructure. Zero-shot bart-large-mnli requires no labelled data, runs on HuggingFace Inference API with no deployment overhead, and generalises to new phishing patterns without retraining.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accuracy does zero-shot BART achieve on phishing?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zero-shot classification F1 on public phishing datasets (eBay, PayPal lookalikes): ~0.71 (Mishra &amp; Sharma, 2022). Fine-tuned models reach ~0.94, but require 10K+ labelled samples. For SIH scope, zero-shot is the correct tradeoff.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replaces it if HuggingFace is down?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marks classification status: unavailable and continues with the remaining four signals. The other signals provide sufficient discrimination for commodity phishing.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EmailThreat — Forensic Intelligence Platform</dc:title>
  <dc:subject>PptxGenJS Presentation</dc:subject>
  <dc:creator>SIH 2026 Team</dc:creator>
  <cp:lastModifiedBy>SIH 2026 Team</cp:lastModifiedBy>
  <cp:revision>1</cp:revision>
  <dcterms:created xsi:type="dcterms:W3CDTF">2026-09-13T12:40:55Z</dcterms:created>
  <dcterms:modified xsi:type="dcterms:W3CDTF">2026-09-13T12:40:55Z</dcterms:modified>
</cp:coreProperties>
</file>